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0merfarooq/IBM_SKILLSBUILD_LaTex_Generation_AI_Project_Problem_Statement_2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40118994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Mohammed Omer Farooq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mohdomerfarooq17@gmail.com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+91 7842376426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like Agriculture / Education / Healthcare / …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dirty="0">
                <a:highlight>
                  <a:srgbClr val="FFFF00"/>
                </a:highlight>
              </a:rPr>
              <a:t>AI-Powered LaTeX Diagram Generator for Academic Research 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F2EF0-AB2A-953F-6E83-2C4E83F62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086" y="3563052"/>
            <a:ext cx="859656" cy="12043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275129" y="471272"/>
            <a:ext cx="11322703" cy="683264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sz="2000" b="1" dirty="0"/>
              <a:t>Problem Statement: AI-Powered LaTeX Diagram Generator for Academic Research</a:t>
            </a:r>
            <a:endParaRPr lang="en-IN" sz="2000" dirty="0"/>
          </a:p>
          <a:p>
            <a:r>
              <a:rPr lang="en-IN" sz="1600" b="1" dirty="0"/>
              <a:t>The Challenge</a:t>
            </a:r>
            <a:endParaRPr lang="en-IN" sz="1600" dirty="0"/>
          </a:p>
          <a:p>
            <a:r>
              <a:rPr lang="en-IN" sz="1600" dirty="0"/>
              <a:t>Academic researchers and students frequently need professional diagrams for publications, theses, and presentations. Creating diagrams in LaTeX using </a:t>
            </a:r>
            <a:r>
              <a:rPr lang="en-IN" sz="1600" dirty="0" err="1"/>
              <a:t>TikZ</a:t>
            </a:r>
            <a:r>
              <a:rPr lang="en-IN" sz="1600" dirty="0"/>
              <a:t> requires deep technical expertise, significant time investment, and manual coding of complex syntax. Existing tools either lack </a:t>
            </a:r>
            <a:r>
              <a:rPr lang="en-IN" sz="1600" b="1" dirty="0"/>
              <a:t>publication-quality output</a:t>
            </a:r>
            <a:r>
              <a:rPr lang="en-IN" sz="1600" dirty="0"/>
              <a:t> or require expensive proprietary software. Without an intelligent, accessible solution, researchers waste valuable time on diagram formatting instead of focusing on their </a:t>
            </a:r>
            <a:r>
              <a:rPr lang="en-IN" sz="1600" b="1" dirty="0"/>
              <a:t>core research work</a:t>
            </a:r>
            <a:r>
              <a:rPr lang="en-IN" sz="1600" dirty="0"/>
              <a:t>.</a:t>
            </a:r>
          </a:p>
          <a:p>
            <a:r>
              <a:rPr lang="en-IN" sz="1600" b="1" dirty="0"/>
              <a:t>The Objective</a:t>
            </a:r>
            <a:endParaRPr lang="en-IN" sz="1600" dirty="0"/>
          </a:p>
          <a:p>
            <a:r>
              <a:rPr lang="en-IN" sz="1600" dirty="0"/>
              <a:t>Build an </a:t>
            </a:r>
            <a:r>
              <a:rPr lang="en-IN" sz="1600" b="1" dirty="0"/>
              <a:t>AI-Powered LaTeX Diagram Generator</a:t>
            </a:r>
            <a:r>
              <a:rPr lang="en-IN" sz="1600" dirty="0"/>
              <a:t> that automatically converts plain-English descriptions into professional </a:t>
            </a:r>
            <a:r>
              <a:rPr lang="en-IN" sz="1600" dirty="0" err="1"/>
              <a:t>TikZ</a:t>
            </a:r>
            <a:r>
              <a:rPr lang="en-IN" sz="1600" dirty="0"/>
              <a:t> code for LaTeX documents. The solution should:</a:t>
            </a:r>
          </a:p>
          <a:p>
            <a:pPr lvl="0"/>
            <a:r>
              <a:rPr lang="en-IN" sz="1600" b="1" dirty="0"/>
              <a:t>Natural Language Input </a:t>
            </a:r>
            <a:r>
              <a:rPr lang="en-IN" sz="1600" dirty="0"/>
              <a:t>– Accept plain-English diagram descriptions without requiring any LaTeX or </a:t>
            </a:r>
            <a:r>
              <a:rPr lang="en-IN" sz="1600" dirty="0" err="1"/>
              <a:t>TikZ</a:t>
            </a:r>
            <a:r>
              <a:rPr lang="en-IN" sz="1600" dirty="0"/>
              <a:t> knowledge from the user.</a:t>
            </a:r>
          </a:p>
          <a:p>
            <a:pPr lvl="0"/>
            <a:r>
              <a:rPr lang="en-IN" sz="1600" b="1" dirty="0" err="1"/>
              <a:t>TikZ</a:t>
            </a:r>
            <a:r>
              <a:rPr lang="en-IN" sz="1600" b="1" dirty="0"/>
              <a:t> Code Generation </a:t>
            </a:r>
            <a:r>
              <a:rPr lang="en-IN" sz="1600" dirty="0"/>
              <a:t>– Automatically produce valid, </a:t>
            </a:r>
            <a:r>
              <a:rPr lang="en-IN" sz="1600" dirty="0" err="1"/>
              <a:t>compilable</a:t>
            </a:r>
            <a:r>
              <a:rPr lang="en-IN" sz="1600" dirty="0"/>
              <a:t> </a:t>
            </a:r>
            <a:r>
              <a:rPr lang="en-IN" sz="1600" dirty="0" err="1"/>
              <a:t>TikZ</a:t>
            </a:r>
            <a:r>
              <a:rPr lang="en-IN" sz="1600" dirty="0"/>
              <a:t> code using IBM Granite code models via watsonx.ai.</a:t>
            </a:r>
          </a:p>
          <a:p>
            <a:pPr lvl="0"/>
            <a:r>
              <a:rPr lang="en-IN" sz="1600" b="1" dirty="0"/>
              <a:t>Real-Time Preview </a:t>
            </a:r>
            <a:r>
              <a:rPr lang="en-IN" sz="1600" dirty="0"/>
              <a:t>– Render the generated diagram instantly inside IBM Watson Studio without any external tools or compilers.</a:t>
            </a:r>
          </a:p>
          <a:p>
            <a:pPr lvl="0"/>
            <a:r>
              <a:rPr lang="en-IN" sz="1600" b="1" dirty="0"/>
              <a:t>Plain-English Refinement </a:t>
            </a:r>
            <a:r>
              <a:rPr lang="en-IN" sz="1600" dirty="0"/>
              <a:t>– Allow iterative diagram improvement using natural language commands like “add blue </a:t>
            </a:r>
            <a:r>
              <a:rPr lang="en-IN" sz="1600" dirty="0" err="1"/>
              <a:t>color</a:t>
            </a:r>
            <a:r>
              <a:rPr lang="en-IN" sz="1600" dirty="0"/>
              <a:t> to the Lexer node.”</a:t>
            </a:r>
          </a:p>
          <a:p>
            <a:pPr lvl="0"/>
            <a:r>
              <a:rPr lang="en-IN" sz="1600" b="1" dirty="0"/>
              <a:t>Multi-Diagram Type Support –</a:t>
            </a:r>
            <a:endParaRPr lang="en-IN" sz="1600" dirty="0"/>
          </a:p>
          <a:p>
            <a:pPr lvl="0"/>
            <a:r>
              <a:rPr lang="en-IN" sz="1600" b="1" dirty="0"/>
              <a:t>Flowcharts </a:t>
            </a:r>
            <a:r>
              <a:rPr lang="en-IN" sz="1600" dirty="0"/>
              <a:t>(compilation pipelines, process flows)</a:t>
            </a:r>
          </a:p>
          <a:p>
            <a:pPr lvl="0"/>
            <a:r>
              <a:rPr lang="en-IN" sz="1600" b="1" dirty="0"/>
              <a:t>Block Diagrams </a:t>
            </a:r>
            <a:r>
              <a:rPr lang="en-IN" sz="1600" dirty="0"/>
              <a:t>(system architectures, layered models)</a:t>
            </a:r>
          </a:p>
          <a:p>
            <a:pPr lvl="0"/>
            <a:r>
              <a:rPr lang="en-IN" sz="1600" b="1" dirty="0"/>
              <a:t>State Machines </a:t>
            </a:r>
            <a:r>
              <a:rPr lang="en-IN" sz="1600" dirty="0"/>
              <a:t>(FSMs, automata, transition diagrams)</a:t>
            </a:r>
          </a:p>
          <a:p>
            <a:pPr lvl="0"/>
            <a:r>
              <a:rPr lang="en-IN" sz="1600" b="1" dirty="0"/>
              <a:t>Trees &amp; Hierarchies </a:t>
            </a:r>
            <a:r>
              <a:rPr lang="en-IN" sz="1600" dirty="0"/>
              <a:t>(binary trees, org charts, decision trees)</a:t>
            </a:r>
          </a:p>
          <a:p>
            <a:pPr lvl="0"/>
            <a:r>
              <a:rPr lang="en-IN" sz="1600" b="1" dirty="0"/>
              <a:t>Timelines, Venn Diagrams, Sequence Diagrams</a:t>
            </a:r>
            <a:endParaRPr lang="en-IN" sz="1600" dirty="0"/>
          </a:p>
          <a:p>
            <a:pPr lvl="0"/>
            <a:r>
              <a:rPr lang="en-IN" sz="1600" b="1" dirty="0"/>
              <a:t>Publication-Ready Output </a:t>
            </a:r>
            <a:r>
              <a:rPr lang="en-IN" sz="1600" dirty="0"/>
              <a:t>– Generate LaTeX-compatible </a:t>
            </a:r>
            <a:r>
              <a:rPr lang="en-IN" sz="1600" dirty="0" err="1"/>
              <a:t>TikZ</a:t>
            </a:r>
            <a:r>
              <a:rPr lang="en-IN" sz="1600" dirty="0"/>
              <a:t> code suitable for journals, IEEE papers, conference submissions, and academic theses.</a:t>
            </a:r>
          </a:p>
          <a:p>
            <a:pPr fontAlgn="base"/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460326" y="1096304"/>
            <a:ext cx="113995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 </a:t>
            </a:r>
            <a:r>
              <a:rPr lang="en-IN" sz="1800" b="1" dirty="0"/>
              <a:t>Tech Stack (Mandatory)</a:t>
            </a:r>
            <a:endParaRPr lang="en-IN" sz="1800" dirty="0"/>
          </a:p>
          <a:p>
            <a:r>
              <a:rPr lang="en-IN" sz="1800" dirty="0"/>
              <a:t>Use </a:t>
            </a:r>
            <a:r>
              <a:rPr lang="en-IN" sz="1800" b="1" dirty="0"/>
              <a:t>any one</a:t>
            </a:r>
            <a:r>
              <a:rPr lang="en-IN" sz="1800" dirty="0"/>
              <a:t> of the following approaches:</a:t>
            </a:r>
          </a:p>
          <a:p>
            <a:pPr lvl="0"/>
            <a:r>
              <a:rPr lang="en-IN" sz="1800" dirty="0"/>
              <a:t>IBM Watson Studio + IBM watsonx.ai + Granite Models</a:t>
            </a:r>
          </a:p>
          <a:p>
            <a:pPr lvl="0"/>
            <a:r>
              <a:rPr lang="en-IN" sz="1800" dirty="0"/>
              <a:t>IBM Cloud Agentic Lab with IBM Granite Models</a:t>
            </a:r>
          </a:p>
          <a:p>
            <a:pPr lvl="0"/>
            <a:r>
              <a:rPr lang="en-IN" sz="1800" dirty="0" err="1"/>
              <a:t>LangFlow</a:t>
            </a:r>
            <a:r>
              <a:rPr lang="en-IN" sz="1800" dirty="0"/>
              <a:t> + IBM watsonx.ai + Granite Models</a:t>
            </a:r>
          </a:p>
          <a:p>
            <a:r>
              <a:rPr lang="en-IN" sz="1800" dirty="0">
                <a:highlight>
                  <a:srgbClr val="FFFF00"/>
                </a:highlight>
              </a:rPr>
              <a:t>I used  </a:t>
            </a:r>
            <a:r>
              <a:rPr lang="en-IN" sz="1800" b="1" dirty="0">
                <a:highlight>
                  <a:srgbClr val="FFFF00"/>
                </a:highlight>
              </a:rPr>
              <a:t>IBM Watson Studio + IBM watsonx.ai + Granite Models</a:t>
            </a:r>
            <a:endParaRPr lang="en-IN" sz="1800" dirty="0">
              <a:highlight>
                <a:srgbClr val="FFFF00"/>
              </a:highlight>
            </a:endParaRPr>
          </a:p>
          <a:p>
            <a:r>
              <a:rPr lang="en-IN" sz="1800" b="1" dirty="0"/>
              <a:t>Specifically:</a:t>
            </a:r>
            <a:endParaRPr lang="en-IN" sz="1800" dirty="0"/>
          </a:p>
          <a:p>
            <a:pPr lvl="0"/>
            <a:r>
              <a:rPr lang="en-IN" sz="1800" b="1" dirty="0"/>
              <a:t>IBM Watson Studio        </a:t>
            </a:r>
            <a:r>
              <a:rPr lang="en-IN" sz="1800" dirty="0"/>
              <a:t>– </a:t>
            </a:r>
            <a:r>
              <a:rPr lang="en-IN" sz="1800" dirty="0" err="1"/>
              <a:t>Jupyter</a:t>
            </a:r>
            <a:r>
              <a:rPr lang="en-IN" sz="1800" dirty="0"/>
              <a:t> Notebook development and execution environment</a:t>
            </a:r>
          </a:p>
          <a:p>
            <a:pPr lvl="0"/>
            <a:r>
              <a:rPr lang="en-IN" sz="1800" b="1" dirty="0"/>
              <a:t>IBM watsonx.ai Runtime   </a:t>
            </a:r>
            <a:r>
              <a:rPr lang="en-IN" sz="1800" dirty="0"/>
              <a:t>– Model deployment, inference, and AI governance platform</a:t>
            </a:r>
          </a:p>
          <a:p>
            <a:pPr lvl="0"/>
            <a:r>
              <a:rPr lang="en-IN" sz="1800" b="1" dirty="0"/>
              <a:t>IBM Granite 8B Code      </a:t>
            </a:r>
            <a:r>
              <a:rPr lang="en-IN" sz="1800" dirty="0"/>
              <a:t>– </a:t>
            </a:r>
            <a:r>
              <a:rPr lang="en-IN" sz="1800" dirty="0" err="1"/>
              <a:t>ibm</a:t>
            </a:r>
            <a:r>
              <a:rPr lang="en-IN" sz="1800" dirty="0"/>
              <a:t>/granite-8b-code-instruct for </a:t>
            </a:r>
            <a:r>
              <a:rPr lang="en-IN" sz="1800" dirty="0" err="1"/>
              <a:t>TikZ</a:t>
            </a:r>
            <a:r>
              <a:rPr lang="en-IN" sz="1800" dirty="0"/>
              <a:t> code generation</a:t>
            </a:r>
          </a:p>
          <a:p>
            <a:pPr lvl="0"/>
            <a:r>
              <a:rPr lang="en-IN" sz="1800" b="1" dirty="0" err="1"/>
              <a:t>ibm</a:t>
            </a:r>
            <a:r>
              <a:rPr lang="en-IN" sz="1800" b="1" dirty="0"/>
              <a:t>-</a:t>
            </a:r>
            <a:r>
              <a:rPr lang="en-IN" sz="1800" b="1" dirty="0" err="1"/>
              <a:t>watsonx</a:t>
            </a:r>
            <a:r>
              <a:rPr lang="en-IN" sz="1800" b="1" dirty="0"/>
              <a:t>-ai SDK       </a:t>
            </a:r>
            <a:r>
              <a:rPr lang="en-IN" sz="1800" dirty="0"/>
              <a:t>– Python SDK for watsonx.ai model API calls</a:t>
            </a:r>
          </a:p>
          <a:p>
            <a:pPr lvl="0"/>
            <a:r>
              <a:rPr lang="en-IN" sz="1800" b="1" dirty="0"/>
              <a:t>matplotlib + </a:t>
            </a:r>
            <a:r>
              <a:rPr lang="en-IN" sz="1800" b="1" dirty="0" err="1"/>
              <a:t>networkx</a:t>
            </a:r>
            <a:r>
              <a:rPr lang="en-IN" sz="1800" b="1" dirty="0"/>
              <a:t>    </a:t>
            </a:r>
            <a:r>
              <a:rPr lang="en-IN" sz="1800" dirty="0"/>
              <a:t>– Local diagram rendering inside the Watson Studio notebook</a:t>
            </a:r>
          </a:p>
          <a:p>
            <a:pPr lvl="0"/>
            <a:r>
              <a:rPr lang="en-IN" sz="1800" b="1" dirty="0"/>
              <a:t>Python 3.12              </a:t>
            </a:r>
            <a:r>
              <a:rPr lang="en-IN" sz="1800" dirty="0"/>
              <a:t>– Core programming language</a:t>
            </a:r>
          </a:p>
          <a:p>
            <a:pPr fontAlgn="base"/>
            <a:endParaRPr lang="en-IN" sz="18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1800" dirty="0"/>
          </a:p>
          <a:p>
            <a:pPr fontAlgn="base"/>
            <a:endParaRPr lang="en-IN" sz="1800" dirty="0"/>
          </a:p>
          <a:p>
            <a:pPr fontAlgn="base"/>
            <a:endParaRPr lang="en-US" sz="18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460326" y="356847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Used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Proposed Solution: AI-Powered LaTeX Diagram Generator</a:t>
            </a:r>
            <a:endParaRPr lang="en-IN" dirty="0"/>
          </a:p>
          <a:p>
            <a:r>
              <a:rPr lang="en-IN" dirty="0"/>
              <a:t>The proposed solution is an </a:t>
            </a:r>
            <a:r>
              <a:rPr lang="en-IN" b="1" dirty="0"/>
              <a:t>AI-powered LaTeX diagram generation agent</a:t>
            </a:r>
            <a:r>
              <a:rPr lang="en-IN" dirty="0"/>
              <a:t> built using </a:t>
            </a:r>
            <a:r>
              <a:rPr lang="en-IN" b="1" dirty="0"/>
              <a:t>IBM Watson Studio, IBM watsonx.ai, and IBM Granite 8B Code Instruct</a:t>
            </a:r>
            <a:r>
              <a:rPr lang="en-IN" dirty="0"/>
              <a:t> to provide researchers with instant, publication-ready </a:t>
            </a:r>
            <a:r>
              <a:rPr lang="en-IN" dirty="0" err="1"/>
              <a:t>TikZ</a:t>
            </a:r>
            <a:r>
              <a:rPr lang="en-IN" dirty="0"/>
              <a:t> diagrams from plain-English descriptions.</a:t>
            </a:r>
          </a:p>
          <a:p>
            <a:r>
              <a:rPr lang="en-IN" dirty="0"/>
              <a:t>At its core, the solution uses a </a:t>
            </a:r>
            <a:r>
              <a:rPr lang="en-IN" b="1" dirty="0"/>
              <a:t>prompt-engineered generation pipeline</a:t>
            </a:r>
            <a:r>
              <a:rPr lang="en-IN" dirty="0"/>
              <a:t> where the user’s natural language description is passed to the Granite 8B Code model, which has been instruction-tuned for code generation tasks. The model outputs valid, </a:t>
            </a:r>
            <a:r>
              <a:rPr lang="en-IN" dirty="0" err="1"/>
              <a:t>compilable</a:t>
            </a:r>
            <a:r>
              <a:rPr lang="en-IN" dirty="0"/>
              <a:t> </a:t>
            </a:r>
            <a:r>
              <a:rPr lang="en-IN" dirty="0" err="1"/>
              <a:t>TikZ</a:t>
            </a:r>
            <a:r>
              <a:rPr lang="en-IN" dirty="0"/>
              <a:t> code following LaTeX best practices including proper node naming, library usage, and diagram structure. The generated code is then rendered as a visual diagram directly inside the Watson Studio notebook using matplotlib and </a:t>
            </a:r>
            <a:r>
              <a:rPr lang="en-IN" dirty="0" err="1"/>
              <a:t>networkx</a:t>
            </a:r>
            <a:r>
              <a:rPr lang="en-IN" dirty="0"/>
              <a:t>, eliminating the need for any external LaTeX compiler or third-party tool.</a:t>
            </a:r>
          </a:p>
          <a:p>
            <a:r>
              <a:rPr lang="en-IN" dirty="0"/>
              <a:t>The system consists of four key components:</a:t>
            </a:r>
          </a:p>
          <a:p>
            <a:r>
              <a:rPr lang="en-IN" b="1" dirty="0"/>
              <a:t>Prompt Engineering Layer </a:t>
            </a:r>
            <a:r>
              <a:rPr lang="en-IN" dirty="0"/>
              <a:t>structures the user’s plain-English input into a precise instruction prompt that guides the Granite model to produce syntactically correct </a:t>
            </a:r>
            <a:r>
              <a:rPr lang="en-IN" dirty="0" err="1"/>
              <a:t>TikZ</a:t>
            </a:r>
            <a:r>
              <a:rPr lang="en-IN" dirty="0"/>
              <a:t> code with no prose or markdown fences.</a:t>
            </a:r>
          </a:p>
          <a:p>
            <a:r>
              <a:rPr lang="en-IN" b="1" dirty="0" err="1"/>
              <a:t>TikZ</a:t>
            </a:r>
            <a:r>
              <a:rPr lang="en-IN" b="1" dirty="0"/>
              <a:t> Code Generation Engine </a:t>
            </a:r>
            <a:r>
              <a:rPr lang="en-IN" dirty="0"/>
              <a:t>uses IBM Granite 8B Code Instruct via the watsonx.ai Runtime API to convert natural language into raw </a:t>
            </a:r>
            <a:r>
              <a:rPr lang="en-IN" dirty="0" err="1"/>
              <a:t>TikZ</a:t>
            </a:r>
            <a:r>
              <a:rPr lang="en-IN" dirty="0"/>
              <a:t> code supporting flowcharts, state machines, trees, block diagrams, timelines, Venn diagrams, and sequence diagrams.</a:t>
            </a:r>
          </a:p>
          <a:p>
            <a:r>
              <a:rPr lang="en-IN" b="1" dirty="0"/>
              <a:t>Multi-Turn Refinement System </a:t>
            </a:r>
            <a:r>
              <a:rPr lang="en-IN" dirty="0"/>
              <a:t>maintains the generated </a:t>
            </a:r>
            <a:r>
              <a:rPr lang="en-IN" dirty="0" err="1"/>
              <a:t>TikZ</a:t>
            </a:r>
            <a:r>
              <a:rPr lang="en-IN" dirty="0"/>
              <a:t> code in state and passes it back to the Granite model along with the user’s plain-English refinement command, enabling iterative improvements like </a:t>
            </a:r>
            <a:r>
              <a:rPr lang="en-IN" dirty="0" err="1"/>
              <a:t>color</a:t>
            </a:r>
            <a:r>
              <a:rPr lang="en-IN" dirty="0"/>
              <a:t> changes, layout adjustments, and style modifications.</a:t>
            </a:r>
          </a:p>
          <a:p>
            <a:r>
              <a:rPr lang="en-IN" b="1" dirty="0"/>
              <a:t>Local Rendering Engine </a:t>
            </a:r>
            <a:r>
              <a:rPr lang="en-IN" dirty="0"/>
              <a:t>parses the generated </a:t>
            </a:r>
            <a:r>
              <a:rPr lang="en-IN" dirty="0" err="1"/>
              <a:t>TikZ</a:t>
            </a:r>
            <a:r>
              <a:rPr lang="en-IN" dirty="0"/>
              <a:t> code and renders a visual diagram preview directly inside the Watson Studio </a:t>
            </a:r>
            <a:r>
              <a:rPr lang="en-IN" dirty="0" err="1"/>
              <a:t>Jupyter</a:t>
            </a:r>
            <a:r>
              <a:rPr lang="en-IN" dirty="0"/>
              <a:t> Notebook using matplotlib, with full support for </a:t>
            </a:r>
            <a:r>
              <a:rPr lang="en-IN" dirty="0" err="1"/>
              <a:t>colored</a:t>
            </a:r>
            <a:r>
              <a:rPr lang="en-IN" dirty="0"/>
              <a:t> nodes, directional arrows, and </a:t>
            </a:r>
            <a:r>
              <a:rPr lang="en-IN" dirty="0" err="1"/>
              <a:t>labeled</a:t>
            </a:r>
            <a:r>
              <a:rPr lang="en-IN" dirty="0"/>
              <a:t> edges — requiring zero external dependencies.</a:t>
            </a:r>
          </a:p>
          <a:p>
            <a:r>
              <a:rPr lang="en-IN" dirty="0"/>
              <a:t>The solution includes a </a:t>
            </a:r>
            <a:r>
              <a:rPr lang="en-IN" b="1" dirty="0"/>
              <a:t>cell-based interactive interface</a:t>
            </a:r>
            <a:r>
              <a:rPr lang="en-IN" dirty="0"/>
              <a:t> that allows users to describe a diagram, view the generated </a:t>
            </a:r>
            <a:r>
              <a:rPr lang="en-IN" dirty="0" err="1"/>
              <a:t>TikZ</a:t>
            </a:r>
            <a:r>
              <a:rPr lang="en-IN" dirty="0"/>
              <a:t> code, preview the rendered output, and refine it — all within a single IBM Watson Studio notebook. IBM Watson Studio provides the managed collaborative environment, while watsonx.ai ensures scalable model inference and AI governance. Granite models power accurate code generation and context-aware refinement.</a:t>
            </a:r>
          </a:p>
          <a:p>
            <a:r>
              <a:rPr lang="en-IN" dirty="0"/>
              <a:t>Overall, this solution delivers an </a:t>
            </a:r>
            <a:r>
              <a:rPr lang="en-IN" b="1" dirty="0"/>
              <a:t>end-to-end intelligent diagram assistant</a:t>
            </a:r>
            <a:r>
              <a:rPr lang="en-IN" dirty="0"/>
              <a:t> that eliminates LaTeX complexity for researchers and enables publication-quality diagrams in seconds.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1) Chat Input </a:t>
            </a:r>
            <a:r>
              <a:rPr lang="en-US" dirty="0"/>
              <a:t>– Interface where users enter their queries, preferences, or meal details (text/voice/image).</a:t>
            </a:r>
          </a:p>
          <a:p>
            <a:endParaRPr lang="en-US" dirty="0"/>
          </a:p>
          <a:p>
            <a:r>
              <a:rPr lang="en-US" b="1" dirty="0"/>
              <a:t>2) IBM </a:t>
            </a:r>
            <a:r>
              <a:rPr lang="en-US" b="1" dirty="0" err="1"/>
              <a:t>watsonx</a:t>
            </a:r>
            <a:r>
              <a:rPr lang="en-US" b="1" dirty="0"/>
              <a:t> AI Agent </a:t>
            </a:r>
            <a:r>
              <a:rPr lang="en-US" dirty="0"/>
              <a:t>- Processes user input using Granite models to generate personalized nutrition insights and recommendations. </a:t>
            </a:r>
          </a:p>
          <a:p>
            <a:endParaRPr lang="en-US" dirty="0"/>
          </a:p>
          <a:p>
            <a:r>
              <a:rPr lang="en-US" b="1" dirty="0"/>
              <a:t>3) Name of IBM Granite model - </a:t>
            </a:r>
            <a:r>
              <a:rPr lang="en-US" dirty="0"/>
              <a:t>Granite-4.0-8B-Instruct → Fast, efficient for real-time diet recommendations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EAC21-1141-41D9-F8AF-7BCDFEC31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06" y="918124"/>
            <a:ext cx="11343588" cy="548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F1CB0-61AC-C094-9578-FEF129024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95" y="650449"/>
            <a:ext cx="11965756" cy="6492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Agentic AI in the LaTeX Diagram Generator</a:t>
            </a:r>
            <a:endParaRPr lang="en-IN" dirty="0"/>
          </a:p>
          <a:p>
            <a:r>
              <a:rPr lang="en-IN" b="1" dirty="0"/>
              <a:t>Agentic AI</a:t>
            </a:r>
            <a:r>
              <a:rPr lang="en-IN" dirty="0"/>
              <a:t> enables the LaTeX Diagram Generator to function as an intelligent, autonomous system rather than a simple code lookup tool. Using </a:t>
            </a:r>
            <a:r>
              <a:rPr lang="en-IN" b="1" dirty="0"/>
              <a:t>IBM watsonx.ai</a:t>
            </a:r>
            <a:r>
              <a:rPr lang="en-IN" dirty="0"/>
              <a:t> and </a:t>
            </a:r>
            <a:r>
              <a:rPr lang="en-IN" b="1" dirty="0"/>
              <a:t>IBM Granite models</a:t>
            </a:r>
            <a:r>
              <a:rPr lang="en-IN" dirty="0"/>
              <a:t>, it reasons over natural language input and autonomously decides how to structure, style, and generate a complete </a:t>
            </a:r>
            <a:r>
              <a:rPr lang="en-IN" dirty="0" err="1"/>
              <a:t>TikZ</a:t>
            </a:r>
            <a:r>
              <a:rPr lang="en-IN" dirty="0"/>
              <a:t> diagram.</a:t>
            </a:r>
          </a:p>
          <a:p>
            <a:r>
              <a:rPr lang="en-IN" dirty="0"/>
              <a:t>The agent performs goal-directed behaviour — given a high-level description like “A flowchart showing the compilation pipeline,” it independently determines node layout, arrow direction, label naming, and </a:t>
            </a:r>
            <a:r>
              <a:rPr lang="en-IN" dirty="0" err="1"/>
              <a:t>TikZ</a:t>
            </a:r>
            <a:r>
              <a:rPr lang="en-IN" dirty="0"/>
              <a:t> library selection without any manual instruction. This </a:t>
            </a:r>
            <a:r>
              <a:rPr lang="en-IN" b="1" dirty="0"/>
              <a:t>autonomous decision-making</a:t>
            </a:r>
            <a:r>
              <a:rPr lang="en-IN" dirty="0"/>
              <a:t> is what separates it from a template-based tool.</a:t>
            </a:r>
          </a:p>
          <a:p>
            <a:r>
              <a:rPr lang="en-IN" dirty="0"/>
              <a:t>Agentic AI also brings </a:t>
            </a:r>
            <a:r>
              <a:rPr lang="en-IN" b="1" dirty="0"/>
              <a:t>context awareness</a:t>
            </a:r>
            <a:r>
              <a:rPr lang="en-IN" dirty="0"/>
              <a:t>, retaining the current diagram state across multiple turns so that refinement commands like “add blue </a:t>
            </a:r>
            <a:r>
              <a:rPr lang="en-IN" dirty="0" err="1"/>
              <a:t>color</a:t>
            </a:r>
            <a:r>
              <a:rPr lang="en-IN" dirty="0"/>
              <a:t> to the Lexer node” are applied correctly to the existing diagram rather than generating a new one from scratch. It supports </a:t>
            </a:r>
            <a:r>
              <a:rPr lang="en-IN" b="1" dirty="0"/>
              <a:t>real-time adaptation</a:t>
            </a:r>
            <a:r>
              <a:rPr lang="en-IN" dirty="0"/>
              <a:t>, continuously updating the </a:t>
            </a:r>
            <a:r>
              <a:rPr lang="en-IN" dirty="0" err="1"/>
              <a:t>TikZ</a:t>
            </a:r>
            <a:r>
              <a:rPr lang="en-IN" dirty="0"/>
              <a:t> output based on user feedback in each notebook cell.</a:t>
            </a:r>
          </a:p>
          <a:p>
            <a:r>
              <a:rPr lang="en-IN" dirty="0"/>
              <a:t>Additionally, the Granite model communicates the full diagram context back to itself in multi-turn prompts, enabling better structural decisions and consistent output across refinement iterations.</a:t>
            </a:r>
          </a:p>
          <a:p>
            <a:r>
              <a:rPr lang="en-IN" dirty="0"/>
              <a:t>Overall, Agentic AI makes the system proactive, context-sensitive, and goal-driven, acting like a </a:t>
            </a:r>
            <a:r>
              <a:rPr lang="en-IN" b="1" dirty="0"/>
              <a:t>smart diagram assistant</a:t>
            </a:r>
            <a:r>
              <a:rPr lang="en-IN" dirty="0"/>
              <a:t> that helps researchers produce publication-quality LaTeX diagrams without writing a single line of </a:t>
            </a:r>
            <a:r>
              <a:rPr lang="en-IN" dirty="0" err="1"/>
              <a:t>TikZ</a:t>
            </a:r>
            <a:r>
              <a:rPr lang="en-IN" dirty="0"/>
              <a:t> code.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Watson Studio </a:t>
            </a:r>
            <a:r>
              <a:rPr lang="en-IN" sz="1800" dirty="0"/>
              <a:t>- For developing, running, and demonstrating the full solution inside a managed </a:t>
            </a:r>
            <a:r>
              <a:rPr lang="en-IN" sz="1800" dirty="0" err="1"/>
              <a:t>Jupyter</a:t>
            </a:r>
            <a:r>
              <a:rPr lang="en-IN" sz="1800" dirty="0"/>
              <a:t> Notebook environment on IBM Cloud Pak for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Granite 8B Code Instruct Model</a:t>
            </a:r>
            <a:r>
              <a:rPr lang="en-IN" sz="1800" dirty="0"/>
              <a:t> -  </a:t>
            </a:r>
            <a:r>
              <a:rPr lang="en-IN" sz="1800" dirty="0" err="1"/>
              <a:t>ibm</a:t>
            </a:r>
            <a:r>
              <a:rPr lang="en-IN" sz="1800" dirty="0"/>
              <a:t>/granite-8b-code-instruct – For natural language understanding, </a:t>
            </a:r>
            <a:r>
              <a:rPr lang="en-IN" sz="1800" dirty="0" err="1"/>
              <a:t>TikZ</a:t>
            </a:r>
            <a:r>
              <a:rPr lang="en-IN" sz="1800" dirty="0"/>
              <a:t> code generation, and context-aware diagram refinement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Cloud</a:t>
            </a:r>
            <a:r>
              <a:rPr lang="en-IN" sz="1800" dirty="0"/>
              <a:t> – Provides the infrastructure to build, deploy, and run the diagram generation agent reliably. IBM Cloud enables a </a:t>
            </a:r>
            <a:r>
              <a:rPr lang="en-IN" sz="1800" b="1" dirty="0"/>
              <a:t>secure, managed, and scalable environment</a:t>
            </a:r>
            <a:r>
              <a:rPr lang="en-IN" sz="1800" dirty="0"/>
              <a:t> for hosting Watson Studio and watsonx.ai Runtime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ibm</a:t>
            </a:r>
            <a:r>
              <a:rPr lang="en-IN" sz="1800" b="1" dirty="0"/>
              <a:t>-</a:t>
            </a:r>
            <a:r>
              <a:rPr lang="en-IN" sz="1800" b="1" dirty="0" err="1"/>
              <a:t>watsonx</a:t>
            </a:r>
            <a:r>
              <a:rPr lang="en-IN" sz="1800" b="1" dirty="0"/>
              <a:t>-ai SDK</a:t>
            </a:r>
            <a:r>
              <a:rPr lang="en-IN" sz="1800" dirty="0"/>
              <a:t> – Python SDK used to </a:t>
            </a:r>
            <a:r>
              <a:rPr lang="en-IN" sz="1800" b="1" dirty="0"/>
              <a:t>authenticate, connect, and call</a:t>
            </a:r>
            <a:r>
              <a:rPr lang="en-IN" sz="1800" dirty="0"/>
              <a:t> the Granite model API from within the Watson Studio notebook, handling all model inference requests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Watsonx.ai Runtime </a:t>
            </a:r>
            <a:r>
              <a:rPr lang="en-IN" sz="1800" dirty="0"/>
              <a:t>- For model deployment, Granite model inference, and AI governance within the IBM Cloud ecosystem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matplotlib + </a:t>
            </a:r>
            <a:r>
              <a:rPr lang="en-IN" sz="1800" b="1" dirty="0" err="1"/>
              <a:t>networkx</a:t>
            </a:r>
            <a:r>
              <a:rPr lang="en-IN" sz="1800" dirty="0"/>
              <a:t> (Local Rendering) – For </a:t>
            </a:r>
            <a:r>
              <a:rPr lang="en-IN" sz="1800" b="1" dirty="0"/>
              <a:t>parsing </a:t>
            </a:r>
            <a:r>
              <a:rPr lang="en-IN" sz="1800" b="1" dirty="0" err="1"/>
              <a:t>TikZ</a:t>
            </a:r>
            <a:r>
              <a:rPr lang="en-IN" sz="1800" b="1" dirty="0"/>
              <a:t> code and rendering visual diagram previews</a:t>
            </a:r>
            <a:r>
              <a:rPr lang="en-IN" sz="1800" dirty="0"/>
              <a:t> directly inside the Watson Studio notebook without any external LaTeX installation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75205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proposed LaTeX Diagram Generator stands out by combining </a:t>
            </a:r>
            <a:r>
              <a:rPr lang="en-IN" sz="1800" b="1" dirty="0"/>
              <a:t>Agentic AI, code generation, and in-notebook rendering</a:t>
            </a:r>
            <a:r>
              <a:rPr lang="en-IN" sz="1800" dirty="0"/>
              <a:t> into a single intelligent system.</a:t>
            </a:r>
          </a:p>
          <a:p>
            <a:r>
              <a:rPr lang="en-IN" sz="1800" b="1" dirty="0"/>
              <a:t>AI-Powered </a:t>
            </a:r>
            <a:r>
              <a:rPr lang="en-IN" sz="1800" b="1" dirty="0" err="1"/>
              <a:t>TikZ</a:t>
            </a:r>
            <a:r>
              <a:rPr lang="en-IN" sz="1800" b="1" dirty="0"/>
              <a:t> Generation </a:t>
            </a:r>
            <a:r>
              <a:rPr lang="en-IN" sz="1800" dirty="0"/>
              <a:t>– Instead of templates or drag-and-drop tools, the system uses IBM Granite to reason over plain-English input and generate syntactically correct, publication-ready </a:t>
            </a:r>
            <a:r>
              <a:rPr lang="en-IN" sz="1800" dirty="0" err="1"/>
              <a:t>TikZ</a:t>
            </a:r>
            <a:r>
              <a:rPr lang="en-IN" sz="1800" dirty="0"/>
              <a:t> code autonomously.</a:t>
            </a:r>
          </a:p>
          <a:p>
            <a:r>
              <a:rPr lang="en-IN" sz="1800" b="1" dirty="0"/>
              <a:t>Zero LaTeX Knowledge Required </a:t>
            </a:r>
            <a:r>
              <a:rPr lang="en-IN" sz="1800" dirty="0"/>
              <a:t>– Researchers with no </a:t>
            </a:r>
            <a:r>
              <a:rPr lang="en-IN" sz="1800" dirty="0" err="1"/>
              <a:t>TikZ</a:t>
            </a:r>
            <a:r>
              <a:rPr lang="en-IN" sz="1800" dirty="0"/>
              <a:t> experience can produce IEEE-quality diagrams in seconds, dramatically lowering the barrier to academic publishing.</a:t>
            </a:r>
          </a:p>
          <a:p>
            <a:r>
              <a:rPr lang="en-IN" sz="1800" b="1" dirty="0"/>
              <a:t>Multi-Turn Refinement </a:t>
            </a:r>
            <a:r>
              <a:rPr lang="en-IN" sz="1800" dirty="0"/>
              <a:t>– Continuously adapts diagram output based on plain-English follow-up commands, maintaining full context across iterations without regenerating from scratch.</a:t>
            </a:r>
          </a:p>
          <a:p>
            <a:r>
              <a:rPr lang="en-IN" sz="1800" b="1" dirty="0"/>
              <a:t>In-Notebook Live Preview </a:t>
            </a:r>
            <a:r>
              <a:rPr lang="en-IN" sz="1800" dirty="0"/>
              <a:t>– Renders the generated diagram as a visual image directly inside Watson Studio using matplotlib — no external tools, no Overleaf, no LaTeX compiler needed.</a:t>
            </a:r>
          </a:p>
          <a:p>
            <a:r>
              <a:rPr lang="en-IN" sz="1800" b="1" dirty="0"/>
              <a:t>Multi-Diagram Type Support </a:t>
            </a:r>
            <a:r>
              <a:rPr lang="en-IN" sz="1800" dirty="0"/>
              <a:t>– Supports flowcharts, state machines, trees, block diagrams, timelines, Venn diagrams, and sequence diagrams from a single unified interface.</a:t>
            </a:r>
          </a:p>
          <a:p>
            <a:r>
              <a:rPr lang="en-IN" sz="1800" b="1" dirty="0"/>
              <a:t>IBM Ecosystem Native </a:t>
            </a:r>
            <a:r>
              <a:rPr lang="en-IN" sz="1800" dirty="0"/>
              <a:t>– Built entirely within IBM Watson Studio and IBM watsonx.ai, ensuring reliability, AI governance, and enterprise-grade scalability with </a:t>
            </a:r>
            <a:r>
              <a:rPr lang="en-IN" sz="1800" b="1" dirty="0"/>
              <a:t>IBM Granite models</a:t>
            </a:r>
            <a:r>
              <a:rPr lang="en-IN" sz="1800" dirty="0"/>
              <a:t>.</a:t>
            </a:r>
          </a:p>
          <a:p>
            <a:r>
              <a:rPr lang="en-IN" sz="1800" dirty="0"/>
              <a:t>This makes the solution a </a:t>
            </a:r>
            <a:r>
              <a:rPr lang="en-IN" sz="1800" b="1" dirty="0"/>
              <a:t>smart, adaptive, and autonomous diagram assistant</a:t>
            </a:r>
            <a:r>
              <a:rPr lang="en-IN" sz="1800" dirty="0"/>
              <a:t>, not just a static code generator — enabling researchers to focus on their work while the AI handles the LaTeX complexity.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 https://github.com/0merfarooq/IBM_SKILLSBUILD_LaTex_Generation_AI_Project_Problem_Statement_26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IN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https://github.com/0merfarooq/IBM_SKILLSBUILD_LaTex_Generation_AI_Project_Problem_Statement_26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71253" y="20833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71253" y="912350"/>
            <a:ext cx="11849493" cy="5471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600" b="1" dirty="0"/>
              <a:t>1.Overleaf &amp; LaTeX IDE Integration – </a:t>
            </a:r>
            <a:endParaRPr lang="en-IN" sz="1600" dirty="0"/>
          </a:p>
          <a:p>
            <a:r>
              <a:rPr lang="en-IN" sz="1600" dirty="0"/>
              <a:t>The system can be extended with a direct Overleaf API integration, allowing generated </a:t>
            </a:r>
            <a:r>
              <a:rPr lang="en-IN" sz="1600" dirty="0" err="1"/>
              <a:t>TikZ</a:t>
            </a:r>
            <a:r>
              <a:rPr lang="en-IN" sz="1600" dirty="0"/>
              <a:t> code to be pushed straight into a user's Overleaf project with a single command. This will enable researchers to go from plain-English description to a compiled, rendered PDF document entirely without leaving their LaTeX workflow.</a:t>
            </a:r>
          </a:p>
          <a:p>
            <a:r>
              <a:rPr lang="en-IN" sz="1600" b="1" dirty="0"/>
              <a:t>2.Sketch-to-Diagram (Image Input) – </a:t>
            </a:r>
            <a:endParaRPr lang="en-IN" sz="1600" dirty="0"/>
          </a:p>
          <a:p>
            <a:r>
              <a:rPr lang="en-IN" sz="1600" dirty="0"/>
              <a:t>Enhancing the system with image understanding capabilities will allow users to upload a hand-drawn sketch or a rough diagram photo. The Granite vision model can interpret the sketch and generate corresponding </a:t>
            </a:r>
            <a:r>
              <a:rPr lang="en-IN" sz="1600" dirty="0" err="1"/>
              <a:t>TikZ</a:t>
            </a:r>
            <a:r>
              <a:rPr lang="en-IN" sz="1600" dirty="0"/>
              <a:t> code automatically, making the tool accessible even to users who prefer drawing over typing.</a:t>
            </a:r>
          </a:p>
          <a:p>
            <a:r>
              <a:rPr lang="en-IN" sz="1600" b="1" dirty="0"/>
              <a:t>3.Expanded Diagram Type Library – </a:t>
            </a:r>
            <a:endParaRPr lang="en-IN" sz="1600" dirty="0"/>
          </a:p>
          <a:p>
            <a:r>
              <a:rPr lang="en-IN" sz="1600" dirty="0"/>
              <a:t>Future versions can support a broader range of academic diagram types including UML class diagrams, entity-relationship (ER) diagrams, circuit schematics, neural network architectures, and mathematical function plots — covering all major use cases across computer science, engineering, and mathematics research.</a:t>
            </a:r>
          </a:p>
          <a:p>
            <a:r>
              <a:rPr lang="en-IN" sz="1600" b="1" dirty="0"/>
              <a:t>4.Gradio / </a:t>
            </a:r>
            <a:r>
              <a:rPr lang="en-IN" sz="1600" b="1" dirty="0" err="1"/>
              <a:t>Streamlit</a:t>
            </a:r>
            <a:r>
              <a:rPr lang="en-IN" sz="1600" b="1" dirty="0"/>
              <a:t> Web UI Deployment – </a:t>
            </a:r>
            <a:endParaRPr lang="en-IN" sz="1600" dirty="0"/>
          </a:p>
          <a:p>
            <a:r>
              <a:rPr lang="en-IN" sz="1600" dirty="0"/>
              <a:t>The notebook-based interface can be upgraded to a fully deployed web application using </a:t>
            </a:r>
            <a:r>
              <a:rPr lang="en-IN" sz="1600" dirty="0" err="1"/>
              <a:t>Gradio</a:t>
            </a:r>
            <a:r>
              <a:rPr lang="en-IN" sz="1600" dirty="0"/>
              <a:t> or </a:t>
            </a:r>
            <a:r>
              <a:rPr lang="en-IN" sz="1600" dirty="0" err="1"/>
              <a:t>Streamlit</a:t>
            </a:r>
            <a:r>
              <a:rPr lang="en-IN" sz="1600" dirty="0"/>
              <a:t>, hosted on IBM Cloud. This will allow researchers to access the diagram generator from any browser without requiring a Watson Studio account or any local setup.</a:t>
            </a:r>
          </a:p>
          <a:p>
            <a:r>
              <a:rPr lang="en-IN" sz="1600" b="1" dirty="0"/>
              <a:t>5.RAG-Based </a:t>
            </a:r>
            <a:r>
              <a:rPr lang="en-IN" sz="1600" b="1" dirty="0" err="1"/>
              <a:t>TikZ</a:t>
            </a:r>
            <a:r>
              <a:rPr lang="en-IN" sz="1600" b="1" dirty="0"/>
              <a:t> Knowledge Retrieval – </a:t>
            </a:r>
            <a:endParaRPr lang="en-IN" sz="1600" dirty="0"/>
          </a:p>
          <a:p>
            <a:r>
              <a:rPr lang="en-IN" sz="1600" dirty="0"/>
              <a:t>Integrating a Retrieval-Augmented Generation (RAG) pipeline with a vector database of </a:t>
            </a:r>
            <a:r>
              <a:rPr lang="en-IN" sz="1600" dirty="0" err="1"/>
              <a:t>TikZ</a:t>
            </a:r>
            <a:r>
              <a:rPr lang="en-IN" sz="1600" dirty="0"/>
              <a:t> documentation, examples, and academic diagram templates will significantly improve code accuracy and output quality. The Granite model will retrieve relevant </a:t>
            </a:r>
            <a:r>
              <a:rPr lang="en-IN" sz="1600" dirty="0" err="1"/>
              <a:t>TikZ</a:t>
            </a:r>
            <a:r>
              <a:rPr lang="en-IN" sz="1600" dirty="0"/>
              <a:t> patterns before generating, reducing syntax errors and improving diagram complexity handling.</a:t>
            </a:r>
          </a:p>
          <a:p>
            <a:r>
              <a:rPr lang="en-IN" sz="1600" b="1" dirty="0"/>
              <a:t>6.Multi-Language LaTeX Support – </a:t>
            </a:r>
            <a:endParaRPr lang="en-IN" sz="1600" dirty="0"/>
          </a:p>
          <a:p>
            <a:r>
              <a:rPr lang="en-IN" sz="1600" dirty="0"/>
              <a:t>Extending the system to support </a:t>
            </a:r>
            <a:r>
              <a:rPr lang="en-IN" sz="1600" dirty="0" err="1"/>
              <a:t>PGFPlots</a:t>
            </a:r>
            <a:r>
              <a:rPr lang="en-IN" sz="1600" dirty="0"/>
              <a:t>, Asymptote, and </a:t>
            </a:r>
            <a:r>
              <a:rPr lang="en-IN" sz="1600" dirty="0" err="1"/>
              <a:t>MetaPost</a:t>
            </a:r>
            <a:r>
              <a:rPr lang="en-IN" sz="1600" dirty="0"/>
              <a:t> alongside </a:t>
            </a:r>
            <a:r>
              <a:rPr lang="en-IN" sz="1600" dirty="0" err="1"/>
              <a:t>TikZ</a:t>
            </a:r>
            <a:r>
              <a:rPr lang="en-IN" sz="1600" dirty="0"/>
              <a:t> will make it useful for a wider academic audience, including those working in mathematics, physics, and scientific data visualization who rely on different LaTeX diagram packages.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1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1993</Words>
  <Application>Microsoft Office PowerPoint</Application>
  <PresentationFormat>Widescreen</PresentationFormat>
  <Paragraphs>120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Omer Farooq</dc:creator>
  <cp:lastModifiedBy>MOHAMMED SAFWAN FAROOQ</cp:lastModifiedBy>
  <cp:revision>22</cp:revision>
  <dcterms:created xsi:type="dcterms:W3CDTF">2025-07-08T05:06:56Z</dcterms:created>
  <dcterms:modified xsi:type="dcterms:W3CDTF">2026-06-04T11:21:13Z</dcterms:modified>
</cp:coreProperties>
</file>